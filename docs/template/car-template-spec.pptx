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D950"/>
    <a:srgbClr val="F0C04D"/>
    <a:srgbClr val="E66D49"/>
    <a:srgbClr val="4472C4"/>
    <a:srgbClr val="5AA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5" autoAdjust="0"/>
    <p:restoredTop sz="94660"/>
  </p:normalViewPr>
  <p:slideViewPr>
    <p:cSldViewPr snapToGrid="0">
      <p:cViewPr>
        <p:scale>
          <a:sx n="75" d="100"/>
          <a:sy n="75" d="100"/>
        </p:scale>
        <p:origin x="48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BCE32-C0D4-4C7D-8947-0BC895027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CE3357-8B1D-4051-8E9D-225649C31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510C2D-A678-406E-AE30-6ABE98B5C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5587-A799-4C9A-8195-8322F51B746C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56805F-1749-44CB-87EA-13E9835C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80495A-D64E-420C-AF04-19314423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223F-0565-456B-A29C-9F000C42C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84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80F6F-629F-414E-B551-6D346CA56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29A2CE-86BF-496A-B736-BCBBB2E3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F4D8F-52D0-427C-A7BE-DB83B82D2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5587-A799-4C9A-8195-8322F51B746C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EB6699-D1C2-4C60-8ADC-B7E17A3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872D13-8B31-4AF3-82E4-A89179AA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223F-0565-456B-A29C-9F000C42C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463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C3C0E-3D32-4859-A7A8-172CC7E8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96D99B-D4CE-414B-B925-F68DC92B9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3FC773-29DF-47F7-A5A0-F0F8C464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5587-A799-4C9A-8195-8322F51B746C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76602E-9D8B-4EED-9DED-11F0ACEC6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2454DF-0C3E-40CD-9A1F-17BB5FFC8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223F-0565-456B-A29C-9F000C42C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724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11CFD-775A-486A-BA9B-637178D5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CB441-A32B-4A70-8F22-33C74440C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B75337-3F95-4784-979B-BBF8D6F08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E6C2BB-3882-48FF-A63E-6B8D3F543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5587-A799-4C9A-8195-8322F51B746C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6A130D-6F7A-4547-AEDC-2A6BB430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A733D0-32AF-4479-A2FD-6B7046B1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223F-0565-456B-A29C-9F000C42C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120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32780D-C3BA-4E07-A12E-5F50E29B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E629DD-14F8-468F-B2A0-355CE2881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D49E6D-4590-4BE0-832D-02F83B0C7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A7C2A1-98C6-4EEA-9EC1-6863A9007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F20135-7D33-4052-AD91-D9483942B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5A2C35-1683-4577-9722-EB986FB4C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5587-A799-4C9A-8195-8322F51B746C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B9E84F-7DB5-4365-9B32-E70E62778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60294A2-612C-4A3C-9BA7-5128D9BA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223F-0565-456B-A29C-9F000C42C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74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2B272-1C67-45A0-97DD-ACC34A3B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06303C-6B35-44D5-BC30-4A2009F5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5587-A799-4C9A-8195-8322F51B746C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966612-D9AC-415F-9944-6C71EEF02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01ABD6-E45A-4C94-8B44-28248F69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223F-0565-456B-A29C-9F000C42C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03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B488E9-B9F7-479E-ABEE-D714F53C8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5587-A799-4C9A-8195-8322F51B746C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52E47E-2EA1-4BDB-9384-1D6043A62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7598E-1926-49D7-BACB-6228D5E0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223F-0565-456B-A29C-9F000C42C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43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D9C1F-1913-41D2-822F-8B4C5347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3A2372-397D-4369-B53E-2495E0BB5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215587-671D-4760-96DE-7106B8A47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60A28B-D197-496E-8F76-8905D60F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5587-A799-4C9A-8195-8322F51B746C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81870E-AE60-4B14-BC52-251DE7A7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406D8E-A48A-4067-A62B-A086E354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223F-0565-456B-A29C-9F000C42C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917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880C5-8E4A-4639-B054-D8DB11FA1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FD12DE-97FA-439B-BF8C-464231376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15DFFF-E93C-4CFC-AC63-D8CCCD757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7142F9-2F4A-45B4-B039-18464F4CB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5587-A799-4C9A-8195-8322F51B746C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0786A8-3277-4F2E-A325-26B79B5E0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485B2C-D02F-45CA-A56C-C23AE3F7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223F-0565-456B-A29C-9F000C42C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812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785B96-6752-401D-8B03-EFCEFB9C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D07F5F-0236-49DE-A8C6-225920627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5D436B-9902-405E-AD81-2CFC54F79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5587-A799-4C9A-8195-8322F51B746C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103F11-4274-4169-A3AB-BAE45892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151B9D-70BE-4A25-BB5F-7B1E2448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223F-0565-456B-A29C-9F000C42C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822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8AE816-804E-431E-8399-DD50E4CA0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E355C2-0E34-46CF-8A45-BCC813E7F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62973F-8717-441E-A04D-DD95ED431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5587-A799-4C9A-8195-8322F51B746C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47EF10-6D75-42C4-B2FA-ABF4C1FC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2BC725-E3C5-4E2F-9726-E5E5907C1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223F-0565-456B-A29C-9F000C42C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22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12331B-602E-428E-817B-C8F0DDB4E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9DF551-4D9B-41F1-AB2C-AAB1EC3A4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8B1A3E-2E9A-44A5-A8E7-DFE7F5E0F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D5587-A799-4C9A-8195-8322F51B746C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3766AF-BD05-4DB5-B767-5DB17DE60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C14B21-BA1C-461D-96FC-358AB11FC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9223F-0565-456B-A29C-9F000C42C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972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A1D208-EE86-4F76-B5FE-29FC8292C40A}"/>
              </a:ext>
            </a:extLst>
          </p:cNvPr>
          <p:cNvSpPr txBox="1"/>
          <p:nvPr/>
        </p:nvSpPr>
        <p:spPr>
          <a:xfrm>
            <a:off x="233398" y="230805"/>
            <a:ext cx="2262158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Template </a:t>
            </a:r>
            <a:r>
              <a:rPr lang="ko-KR" altLang="en-US" sz="2400" dirty="0"/>
              <a:t>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B11FCE-DC5A-470C-8C64-F533582011C3}"/>
              </a:ext>
            </a:extLst>
          </p:cNvPr>
          <p:cNvSpPr/>
          <p:nvPr/>
        </p:nvSpPr>
        <p:spPr>
          <a:xfrm>
            <a:off x="1706136" y="1238491"/>
            <a:ext cx="10485863" cy="1764262"/>
          </a:xfrm>
          <a:prstGeom prst="rect">
            <a:avLst/>
          </a:prstGeom>
          <a:solidFill>
            <a:srgbClr val="E66D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Application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DF2949-6D95-468B-9CC1-4624D73274F7}"/>
              </a:ext>
            </a:extLst>
          </p:cNvPr>
          <p:cNvSpPr/>
          <p:nvPr/>
        </p:nvSpPr>
        <p:spPr>
          <a:xfrm>
            <a:off x="851209" y="2984764"/>
            <a:ext cx="11340790" cy="1764262"/>
          </a:xfrm>
          <a:prstGeom prst="rect">
            <a:avLst/>
          </a:prstGeom>
          <a:solidFill>
            <a:srgbClr val="F0C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IPC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DD1E16-BE29-43A2-8CFE-D4A876BA56BE}"/>
              </a:ext>
            </a:extLst>
          </p:cNvPr>
          <p:cNvSpPr/>
          <p:nvPr/>
        </p:nvSpPr>
        <p:spPr>
          <a:xfrm>
            <a:off x="0" y="4741720"/>
            <a:ext cx="12192000" cy="1764262"/>
          </a:xfrm>
          <a:prstGeom prst="rect">
            <a:avLst/>
          </a:prstGeom>
          <a:solidFill>
            <a:srgbClr val="5AAB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Hardware interface by software</a:t>
            </a:r>
            <a:endParaRPr lang="ko-KR" altLang="en-US" dirty="0"/>
          </a:p>
        </p:txBody>
      </p:sp>
      <p:sp>
        <p:nvSpPr>
          <p:cNvPr id="6" name="화살표: 위쪽/아래쪽 5">
            <a:extLst>
              <a:ext uri="{FF2B5EF4-FFF2-40B4-BE49-F238E27FC236}">
                <a16:creationId xmlns:a16="http://schemas.microsoft.com/office/drawing/2014/main" id="{DA9AB9F8-DDC3-4F82-87B7-C2A1DCE63F27}"/>
              </a:ext>
            </a:extLst>
          </p:cNvPr>
          <p:cNvSpPr/>
          <p:nvPr/>
        </p:nvSpPr>
        <p:spPr>
          <a:xfrm>
            <a:off x="10609517" y="2458658"/>
            <a:ext cx="758283" cy="1090116"/>
          </a:xfrm>
          <a:prstGeom prst="upDownArrow">
            <a:avLst/>
          </a:prstGeom>
          <a:solidFill>
            <a:srgbClr val="B7D950"/>
          </a:solidFill>
          <a:ln w="508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위쪽/아래쪽 6">
            <a:extLst>
              <a:ext uri="{FF2B5EF4-FFF2-40B4-BE49-F238E27FC236}">
                <a16:creationId xmlns:a16="http://schemas.microsoft.com/office/drawing/2014/main" id="{73B11DC2-9554-4727-8E06-838F4F1B8984}"/>
              </a:ext>
            </a:extLst>
          </p:cNvPr>
          <p:cNvSpPr/>
          <p:nvPr/>
        </p:nvSpPr>
        <p:spPr>
          <a:xfrm>
            <a:off x="10604838" y="4154086"/>
            <a:ext cx="758283" cy="1090116"/>
          </a:xfrm>
          <a:prstGeom prst="upDownArrow">
            <a:avLst/>
          </a:prstGeom>
          <a:solidFill>
            <a:srgbClr val="B7D950"/>
          </a:solidFill>
          <a:ln w="508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B1C12D-CF6C-4755-B2A3-DB9B5D2619CF}"/>
              </a:ext>
            </a:extLst>
          </p:cNvPr>
          <p:cNvSpPr txBox="1"/>
          <p:nvPr/>
        </p:nvSpPr>
        <p:spPr>
          <a:xfrm>
            <a:off x="1256905" y="3536108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Message Queue for </a:t>
            </a:r>
            <a:r>
              <a:rPr lang="en-US" altLang="ko-KR" b="1" dirty="0"/>
              <a:t>control board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CEB53-F439-4BAB-9AAD-AAB10973B3DC}"/>
              </a:ext>
            </a:extLst>
          </p:cNvPr>
          <p:cNvSpPr txBox="1"/>
          <p:nvPr/>
        </p:nvSpPr>
        <p:spPr>
          <a:xfrm>
            <a:off x="1256905" y="3888213"/>
            <a:ext cx="347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Shared Memory for </a:t>
            </a:r>
            <a:r>
              <a:rPr lang="en-US" altLang="ko-KR" b="1" dirty="0"/>
              <a:t>PSD data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1159BF-7F54-46D7-AFB4-7BF53978D9BA}"/>
              </a:ext>
            </a:extLst>
          </p:cNvPr>
          <p:cNvSpPr txBox="1"/>
          <p:nvPr/>
        </p:nvSpPr>
        <p:spPr>
          <a:xfrm>
            <a:off x="5367326" y="3529684"/>
            <a:ext cx="5027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Shared Memory for </a:t>
            </a:r>
            <a:r>
              <a:rPr lang="en-US" altLang="ko-KR" b="1" dirty="0"/>
              <a:t>Display Buffer</a:t>
            </a:r>
            <a:r>
              <a:rPr lang="en-US" altLang="ko-KR" dirty="0"/>
              <a:t> (</a:t>
            </a:r>
            <a:r>
              <a:rPr lang="ko-KR" altLang="en-US" dirty="0"/>
              <a:t>미정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73EABF-CD5F-4AC0-91A2-55BE883FFE4A}"/>
              </a:ext>
            </a:extLst>
          </p:cNvPr>
          <p:cNvSpPr txBox="1"/>
          <p:nvPr/>
        </p:nvSpPr>
        <p:spPr>
          <a:xfrm>
            <a:off x="5367326" y="3894638"/>
            <a:ext cx="4900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Shared Memory for </a:t>
            </a:r>
            <a:r>
              <a:rPr lang="en-US" altLang="ko-KR" b="1" dirty="0"/>
              <a:t>Camera Buffer</a:t>
            </a:r>
            <a:r>
              <a:rPr lang="en-US" altLang="ko-KR" dirty="0"/>
              <a:t> (</a:t>
            </a:r>
            <a:r>
              <a:rPr lang="ko-KR" altLang="en-US" dirty="0"/>
              <a:t>미정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83BDA2-DF4D-4CE2-BC3A-70554E2267D1}"/>
              </a:ext>
            </a:extLst>
          </p:cNvPr>
          <p:cNvSpPr txBox="1"/>
          <p:nvPr/>
        </p:nvSpPr>
        <p:spPr>
          <a:xfrm>
            <a:off x="2965710" y="168703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recognize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10D0F1-3B71-426B-8916-0DA4E5C63B45}"/>
              </a:ext>
            </a:extLst>
          </p:cNvPr>
          <p:cNvSpPr txBox="1"/>
          <p:nvPr/>
        </p:nvSpPr>
        <p:spPr>
          <a:xfrm>
            <a:off x="5935553" y="1717449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D84597-2699-4C49-B8BB-09418BBCD2A4}"/>
              </a:ext>
            </a:extLst>
          </p:cNvPr>
          <p:cNvSpPr txBox="1"/>
          <p:nvPr/>
        </p:nvSpPr>
        <p:spPr>
          <a:xfrm>
            <a:off x="8950712" y="1717449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control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CE0419-2E82-45D2-BF28-7A3E7FB935B5}"/>
              </a:ext>
            </a:extLst>
          </p:cNvPr>
          <p:cNvSpPr txBox="1"/>
          <p:nvPr/>
        </p:nvSpPr>
        <p:spPr>
          <a:xfrm>
            <a:off x="4315521" y="568730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carpsd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DA4666-AA6C-451A-B12F-A1A098984E2E}"/>
              </a:ext>
            </a:extLst>
          </p:cNvPr>
          <p:cNvSpPr txBox="1"/>
          <p:nvPr/>
        </p:nvSpPr>
        <p:spPr>
          <a:xfrm>
            <a:off x="5877940" y="5705711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ctrlboard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5446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D7C517-A923-47DF-A513-FBAF32BF1774}"/>
              </a:ext>
            </a:extLst>
          </p:cNvPr>
          <p:cNvSpPr/>
          <p:nvPr/>
        </p:nvSpPr>
        <p:spPr>
          <a:xfrm>
            <a:off x="4727577" y="4122125"/>
            <a:ext cx="2657473" cy="2496162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43" name="화살표: 왼쪽 42">
            <a:extLst>
              <a:ext uri="{FF2B5EF4-FFF2-40B4-BE49-F238E27FC236}">
                <a16:creationId xmlns:a16="http://schemas.microsoft.com/office/drawing/2014/main" id="{A227428E-57B3-4786-A25F-3DAC76F2F0CC}"/>
              </a:ext>
            </a:extLst>
          </p:cNvPr>
          <p:cNvSpPr/>
          <p:nvPr/>
        </p:nvSpPr>
        <p:spPr>
          <a:xfrm>
            <a:off x="6944667" y="4733665"/>
            <a:ext cx="1348642" cy="484632"/>
          </a:xfrm>
          <a:prstGeom prst="leftArrow">
            <a:avLst/>
          </a:prstGeom>
          <a:solidFill>
            <a:srgbClr val="B7D9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86CFE-6971-4A08-A5C5-8E5A8DC2D6D4}"/>
              </a:ext>
            </a:extLst>
          </p:cNvPr>
          <p:cNvSpPr txBox="1"/>
          <p:nvPr/>
        </p:nvSpPr>
        <p:spPr>
          <a:xfrm>
            <a:off x="233398" y="230805"/>
            <a:ext cx="1204176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2400"/>
            </a:lvl1pPr>
          </a:lstStyle>
          <a:p>
            <a:r>
              <a:rPr lang="en-US" altLang="ko-KR" dirty="0" err="1"/>
              <a:t>carpsd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D4528-353D-45A5-BFBE-CDD3477CAF5C}"/>
              </a:ext>
            </a:extLst>
          </p:cNvPr>
          <p:cNvSpPr txBox="1"/>
          <p:nvPr/>
        </p:nvSpPr>
        <p:spPr>
          <a:xfrm>
            <a:off x="233398" y="825190"/>
            <a:ext cx="11642651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알아 두어야 할 내용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dirty="0"/>
              <a:t>Application </a:t>
            </a:r>
            <a:r>
              <a:rPr lang="ko-KR" altLang="en-US" dirty="0"/>
              <a:t>계층의 프로세스를 실행하기 전에 </a:t>
            </a:r>
            <a:r>
              <a:rPr lang="en-US" altLang="ko-KR" dirty="0" err="1"/>
              <a:t>carpsd</a:t>
            </a:r>
            <a:r>
              <a:rPr lang="en-US" altLang="ko-KR" dirty="0"/>
              <a:t> </a:t>
            </a:r>
            <a:r>
              <a:rPr lang="ko-KR" altLang="en-US" dirty="0"/>
              <a:t>프로세스가 실행되어 있어야 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en-US" altLang="ko-KR" dirty="0" err="1"/>
              <a:t>carpsd.h</a:t>
            </a:r>
            <a:r>
              <a:rPr lang="ko-KR" altLang="en-US" dirty="0"/>
              <a:t>에 있는 </a:t>
            </a:r>
            <a:r>
              <a:rPr lang="en-US" altLang="ko-KR" dirty="0" err="1"/>
              <a:t>psd_data</a:t>
            </a:r>
            <a:r>
              <a:rPr lang="en-US" altLang="ko-KR" dirty="0"/>
              <a:t> </a:t>
            </a:r>
            <a:r>
              <a:rPr lang="ko-KR" altLang="en-US" dirty="0"/>
              <a:t>구조체는 읽기 전용이다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en-US" altLang="ko-KR" dirty="0"/>
              <a:t>Share Memory </a:t>
            </a:r>
            <a:r>
              <a:rPr lang="ko-KR" altLang="en-US" dirty="0"/>
              <a:t>방식을 채택했기 때문에 프로세스 간 </a:t>
            </a:r>
            <a:r>
              <a:rPr lang="en-US" altLang="ko-KR" dirty="0"/>
              <a:t>Key</a:t>
            </a:r>
            <a:r>
              <a:rPr lang="ko-KR" altLang="en-US" dirty="0"/>
              <a:t>값을 공유해야 한다</a:t>
            </a:r>
            <a:r>
              <a:rPr lang="en-US" altLang="ko-KR" dirty="0"/>
              <a:t>. </a:t>
            </a:r>
            <a:r>
              <a:rPr lang="ko-KR" altLang="en-US" dirty="0"/>
              <a:t>또한 이 </a:t>
            </a:r>
            <a:r>
              <a:rPr lang="en-US" altLang="ko-KR" dirty="0"/>
              <a:t>Key </a:t>
            </a:r>
            <a:r>
              <a:rPr lang="ko-KR" altLang="en-US" dirty="0"/>
              <a:t>값은 </a:t>
            </a:r>
            <a:r>
              <a:rPr lang="en-US" altLang="ko-KR" dirty="0" err="1"/>
              <a:t>carpsd</a:t>
            </a:r>
            <a:r>
              <a:rPr lang="ko-KR" altLang="en-US" dirty="0"/>
              <a:t>를 실행할 때 결정할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D0E08-5236-4F10-9316-DCAA7F9EE084}"/>
              </a:ext>
            </a:extLst>
          </p:cNvPr>
          <p:cNvSpPr txBox="1"/>
          <p:nvPr/>
        </p:nvSpPr>
        <p:spPr>
          <a:xfrm>
            <a:off x="233397" y="2435238"/>
            <a:ext cx="11642651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데이터를 가져오는 방법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dirty="0" err="1"/>
              <a:t>carpsd</a:t>
            </a:r>
            <a:r>
              <a:rPr lang="en-US" altLang="ko-KR" dirty="0"/>
              <a:t> </a:t>
            </a:r>
            <a:r>
              <a:rPr lang="ko-KR" altLang="en-US" dirty="0"/>
              <a:t>프로세스를 특정 </a:t>
            </a:r>
            <a:r>
              <a:rPr lang="en-US" altLang="ko-KR" dirty="0"/>
              <a:t>key </a:t>
            </a:r>
            <a:r>
              <a:rPr lang="ko-KR" altLang="en-US" dirty="0"/>
              <a:t>값을 전달하여 실행한다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PSD </a:t>
            </a:r>
            <a:r>
              <a:rPr lang="ko-KR" altLang="en-US" dirty="0"/>
              <a:t>값을 필요로 하는 프로세스에서 이 </a:t>
            </a:r>
            <a:r>
              <a:rPr lang="en-US" altLang="ko-KR" dirty="0"/>
              <a:t>key </a:t>
            </a:r>
            <a:r>
              <a:rPr lang="ko-KR" altLang="en-US" dirty="0"/>
              <a:t>값을 이용해 </a:t>
            </a:r>
            <a:r>
              <a:rPr lang="en-US" altLang="ko-KR" dirty="0" err="1"/>
              <a:t>carpsd.h</a:t>
            </a:r>
            <a:r>
              <a:rPr lang="ko-KR" altLang="en-US" dirty="0"/>
              <a:t>에 있는 </a:t>
            </a:r>
            <a:r>
              <a:rPr lang="en-US" altLang="ko-KR" dirty="0" err="1"/>
              <a:t>get_shm_psd_data</a:t>
            </a:r>
            <a:r>
              <a:rPr lang="en-US" altLang="ko-KR" dirty="0"/>
              <a:t> </a:t>
            </a:r>
            <a:r>
              <a:rPr lang="ko-KR" altLang="en-US" dirty="0"/>
              <a:t>함수를 사용해서 </a:t>
            </a:r>
            <a:r>
              <a:rPr lang="en-US" altLang="ko-KR" dirty="0"/>
              <a:t>shared memory </a:t>
            </a:r>
            <a:r>
              <a:rPr lang="ko-KR" altLang="en-US" dirty="0"/>
              <a:t>주소 공간을 반환 받는다</a:t>
            </a:r>
            <a:r>
              <a:rPr lang="en-US" altLang="ko-KR" dirty="0"/>
              <a:t>(</a:t>
            </a:r>
            <a:r>
              <a:rPr lang="ko-KR" altLang="en-US" dirty="0"/>
              <a:t>인자를 통해 반환 받음</a:t>
            </a:r>
            <a:r>
              <a:rPr lang="en-US" altLang="ko-KR" dirty="0"/>
              <a:t>).</a:t>
            </a:r>
          </a:p>
          <a:p>
            <a:pPr marL="342900" indent="-342900">
              <a:buAutoNum type="arabicPeriod"/>
            </a:pPr>
            <a:r>
              <a:rPr lang="en-US" altLang="ko-KR" dirty="0" err="1"/>
              <a:t>psd_data</a:t>
            </a:r>
            <a:r>
              <a:rPr lang="en-US" altLang="ko-KR" dirty="0"/>
              <a:t> </a:t>
            </a:r>
            <a:r>
              <a:rPr lang="ko-KR" altLang="en-US" dirty="0"/>
              <a:t>구조체로부터 필요한 정보를 읽는다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05F501-DA84-4CF2-9F3C-908486E48B13}"/>
              </a:ext>
            </a:extLst>
          </p:cNvPr>
          <p:cNvSpPr/>
          <p:nvPr/>
        </p:nvSpPr>
        <p:spPr>
          <a:xfrm>
            <a:off x="1336514" y="5959988"/>
            <a:ext cx="1015694" cy="390056"/>
          </a:xfrm>
          <a:prstGeom prst="rect">
            <a:avLst/>
          </a:prstGeom>
          <a:solidFill>
            <a:srgbClr val="5AAB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I2C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170771-2B45-4DEE-9BF7-D1A67033BCAE}"/>
              </a:ext>
            </a:extLst>
          </p:cNvPr>
          <p:cNvSpPr/>
          <p:nvPr/>
        </p:nvSpPr>
        <p:spPr>
          <a:xfrm>
            <a:off x="1336514" y="4213098"/>
            <a:ext cx="1015694" cy="645624"/>
          </a:xfrm>
          <a:prstGeom prst="rect">
            <a:avLst/>
          </a:prstGeom>
          <a:solidFill>
            <a:srgbClr val="5AAB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PSD Sensor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125E80-36F2-4B8C-A383-54B5A20596A3}"/>
              </a:ext>
            </a:extLst>
          </p:cNvPr>
          <p:cNvSpPr/>
          <p:nvPr/>
        </p:nvSpPr>
        <p:spPr>
          <a:xfrm>
            <a:off x="1336514" y="5214327"/>
            <a:ext cx="1015694" cy="390056"/>
          </a:xfrm>
          <a:prstGeom prst="rect">
            <a:avLst/>
          </a:prstGeom>
          <a:solidFill>
            <a:srgbClr val="5AAB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ADC</a:t>
            </a:r>
            <a:endParaRPr lang="ko-KR" altLang="en-US" dirty="0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600E002B-6D8E-4B91-ACC2-D79FBA57B12D}"/>
              </a:ext>
            </a:extLst>
          </p:cNvPr>
          <p:cNvSpPr/>
          <p:nvPr/>
        </p:nvSpPr>
        <p:spPr>
          <a:xfrm>
            <a:off x="1602045" y="4858722"/>
            <a:ext cx="484632" cy="355605"/>
          </a:xfrm>
          <a:prstGeom prst="downArrow">
            <a:avLst/>
          </a:prstGeom>
          <a:solidFill>
            <a:srgbClr val="B7D9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ABD0408E-1887-4B0F-9198-A3221DF11102}"/>
              </a:ext>
            </a:extLst>
          </p:cNvPr>
          <p:cNvSpPr/>
          <p:nvPr/>
        </p:nvSpPr>
        <p:spPr>
          <a:xfrm>
            <a:off x="1602045" y="5604383"/>
            <a:ext cx="484632" cy="355605"/>
          </a:xfrm>
          <a:prstGeom prst="downArrow">
            <a:avLst/>
          </a:prstGeom>
          <a:solidFill>
            <a:srgbClr val="B7D9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2D3B40D9-57CD-4F33-8D0F-88B43E51037A}"/>
              </a:ext>
            </a:extLst>
          </p:cNvPr>
          <p:cNvSpPr/>
          <p:nvPr/>
        </p:nvSpPr>
        <p:spPr>
          <a:xfrm rot="16200000">
            <a:off x="2287695" y="5977213"/>
            <a:ext cx="484632" cy="355605"/>
          </a:xfrm>
          <a:prstGeom prst="downArrow">
            <a:avLst/>
          </a:prstGeom>
          <a:solidFill>
            <a:srgbClr val="B7D9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C826BFA-C58A-493A-8335-0D0245A956B7}"/>
              </a:ext>
            </a:extLst>
          </p:cNvPr>
          <p:cNvSpPr/>
          <p:nvPr/>
        </p:nvSpPr>
        <p:spPr>
          <a:xfrm>
            <a:off x="2707814" y="5959988"/>
            <a:ext cx="1495886" cy="390056"/>
          </a:xfrm>
          <a:prstGeom prst="rect">
            <a:avLst/>
          </a:prstGeom>
          <a:solidFill>
            <a:srgbClr val="5AAB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/>
              <a:t>데이터 가공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865DB9-0492-4FE5-BA57-027782151CEE}"/>
              </a:ext>
            </a:extLst>
          </p:cNvPr>
          <p:cNvSpPr txBox="1"/>
          <p:nvPr/>
        </p:nvSpPr>
        <p:spPr>
          <a:xfrm>
            <a:off x="1444252" y="6356677"/>
            <a:ext cx="8002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hardware</a:t>
            </a:r>
            <a:endParaRPr lang="ko-KR" alt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3A30D-9BE8-4427-A363-BDFE775773EB}"/>
              </a:ext>
            </a:extLst>
          </p:cNvPr>
          <p:cNvSpPr txBox="1"/>
          <p:nvPr/>
        </p:nvSpPr>
        <p:spPr>
          <a:xfrm>
            <a:off x="3055647" y="6358939"/>
            <a:ext cx="8002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software</a:t>
            </a:r>
            <a:endParaRPr lang="ko-KR" altLang="en-US" sz="11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96205FC-1719-4F04-9497-783BED09ADEB}"/>
              </a:ext>
            </a:extLst>
          </p:cNvPr>
          <p:cNvSpPr/>
          <p:nvPr/>
        </p:nvSpPr>
        <p:spPr>
          <a:xfrm>
            <a:off x="1231900" y="4122125"/>
            <a:ext cx="3101340" cy="2496162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E8F817-35C6-40A5-9C93-737971109455}"/>
              </a:ext>
            </a:extLst>
          </p:cNvPr>
          <p:cNvSpPr txBox="1"/>
          <p:nvPr/>
        </p:nvSpPr>
        <p:spPr>
          <a:xfrm>
            <a:off x="3259211" y="412718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carpsd</a:t>
            </a:r>
            <a:endParaRPr lang="ko-KR" altLang="en-US" dirty="0"/>
          </a:p>
        </p:txBody>
      </p:sp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A8F2490D-1267-4F3A-9C18-FD6C4345C765}"/>
              </a:ext>
            </a:extLst>
          </p:cNvPr>
          <p:cNvSpPr/>
          <p:nvPr/>
        </p:nvSpPr>
        <p:spPr>
          <a:xfrm rot="16200000">
            <a:off x="4485261" y="5631141"/>
            <a:ext cx="484632" cy="1047752"/>
          </a:xfrm>
          <a:prstGeom prst="downArrow">
            <a:avLst/>
          </a:prstGeom>
          <a:solidFill>
            <a:srgbClr val="B7D9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9862DB-6056-491F-8FA0-7B9380163800}"/>
              </a:ext>
            </a:extLst>
          </p:cNvPr>
          <p:cNvSpPr txBox="1"/>
          <p:nvPr/>
        </p:nvSpPr>
        <p:spPr>
          <a:xfrm>
            <a:off x="5927297" y="412212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Linux </a:t>
            </a:r>
            <a:r>
              <a:rPr lang="en-US" altLang="ko-KR" dirty="0" err="1"/>
              <a:t>ipc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6CBFDBA-3B7C-45CF-800A-9D1D9D4DB65F}"/>
              </a:ext>
            </a:extLst>
          </p:cNvPr>
          <p:cNvSpPr/>
          <p:nvPr/>
        </p:nvSpPr>
        <p:spPr>
          <a:xfrm>
            <a:off x="5251452" y="5966621"/>
            <a:ext cx="2000247" cy="390056"/>
          </a:xfrm>
          <a:prstGeom prst="rect">
            <a:avLst/>
          </a:prstGeom>
          <a:solidFill>
            <a:srgbClr val="F0C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Shared</a:t>
            </a:r>
            <a:r>
              <a:rPr lang="ko-KR" altLang="en-US" dirty="0"/>
              <a:t> </a:t>
            </a:r>
            <a:r>
              <a:rPr lang="en-US" altLang="ko-KR" dirty="0"/>
              <a:t>Memory</a:t>
            </a:r>
            <a:endParaRPr lang="ko-KR" altLang="en-US" dirty="0"/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6C763A9E-9E80-4742-9444-DED60B3F9DAA}"/>
              </a:ext>
            </a:extLst>
          </p:cNvPr>
          <p:cNvSpPr/>
          <p:nvPr/>
        </p:nvSpPr>
        <p:spPr>
          <a:xfrm rot="16200000">
            <a:off x="7537071" y="5637773"/>
            <a:ext cx="484632" cy="1047752"/>
          </a:xfrm>
          <a:prstGeom prst="downArrow">
            <a:avLst/>
          </a:prstGeom>
          <a:solidFill>
            <a:srgbClr val="B7D9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31DE776-CD35-475B-B648-0A60933F4071}"/>
              </a:ext>
            </a:extLst>
          </p:cNvPr>
          <p:cNvSpPr/>
          <p:nvPr/>
        </p:nvSpPr>
        <p:spPr>
          <a:xfrm>
            <a:off x="8293309" y="4131033"/>
            <a:ext cx="2388754" cy="2496162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767AAE-2052-45B4-94E8-0E2E4F8F7505}"/>
              </a:ext>
            </a:extLst>
          </p:cNvPr>
          <p:cNvSpPr txBox="1"/>
          <p:nvPr/>
        </p:nvSpPr>
        <p:spPr>
          <a:xfrm>
            <a:off x="9012444" y="4156182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Application</a:t>
            </a:r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FC188E4-970E-4B85-8728-BEB1E84BA8B6}"/>
              </a:ext>
            </a:extLst>
          </p:cNvPr>
          <p:cNvSpPr/>
          <p:nvPr/>
        </p:nvSpPr>
        <p:spPr>
          <a:xfrm>
            <a:off x="8515129" y="6027593"/>
            <a:ext cx="2000247" cy="390056"/>
          </a:xfrm>
          <a:prstGeom prst="rect">
            <a:avLst/>
          </a:prstGeom>
          <a:solidFill>
            <a:srgbClr val="E66D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App 1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084CCF7-C8BC-4AFA-A19C-26A6344BFA1B}"/>
              </a:ext>
            </a:extLst>
          </p:cNvPr>
          <p:cNvSpPr/>
          <p:nvPr/>
        </p:nvSpPr>
        <p:spPr>
          <a:xfrm>
            <a:off x="8515128" y="5523666"/>
            <a:ext cx="2000247" cy="390056"/>
          </a:xfrm>
          <a:prstGeom prst="rect">
            <a:avLst/>
          </a:prstGeom>
          <a:solidFill>
            <a:srgbClr val="E66D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App 2</a:t>
            </a:r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04013A6-5759-42D2-A0AE-A35DE4925329}"/>
              </a:ext>
            </a:extLst>
          </p:cNvPr>
          <p:cNvSpPr/>
          <p:nvPr/>
        </p:nvSpPr>
        <p:spPr>
          <a:xfrm>
            <a:off x="8515127" y="5019299"/>
            <a:ext cx="2000247" cy="390056"/>
          </a:xfrm>
          <a:prstGeom prst="rect">
            <a:avLst/>
          </a:prstGeom>
          <a:solidFill>
            <a:srgbClr val="E66D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App 3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9A5711-7C8D-4FD2-A278-31C2E9F136F1}"/>
              </a:ext>
            </a:extLst>
          </p:cNvPr>
          <p:cNvSpPr txBox="1"/>
          <p:nvPr/>
        </p:nvSpPr>
        <p:spPr>
          <a:xfrm>
            <a:off x="7381654" y="5730853"/>
            <a:ext cx="646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by key</a:t>
            </a:r>
            <a:endParaRPr lang="ko-KR" altLang="en-US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F82DCA-BA98-4DF4-97B3-E029C87BCBB5}"/>
              </a:ext>
            </a:extLst>
          </p:cNvPr>
          <p:cNvSpPr txBox="1"/>
          <p:nvPr/>
        </p:nvSpPr>
        <p:spPr>
          <a:xfrm>
            <a:off x="5589374" y="4696133"/>
            <a:ext cx="1324402" cy="646331"/>
          </a:xfrm>
          <a:prstGeom prst="rect">
            <a:avLst/>
          </a:prstGeom>
          <a:solidFill>
            <a:srgbClr val="F0C04D"/>
          </a:solidFill>
          <a:ln w="57150">
            <a:solidFill>
              <a:srgbClr val="B7D9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psd_data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structure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2" name="화살표: 위쪽/아래쪽 41">
            <a:extLst>
              <a:ext uri="{FF2B5EF4-FFF2-40B4-BE49-F238E27FC236}">
                <a16:creationId xmlns:a16="http://schemas.microsoft.com/office/drawing/2014/main" id="{3FD0915F-BE63-46D5-AE89-7B6557ACC448}"/>
              </a:ext>
            </a:extLst>
          </p:cNvPr>
          <p:cNvSpPr/>
          <p:nvPr/>
        </p:nvSpPr>
        <p:spPr>
          <a:xfrm>
            <a:off x="5949958" y="5342772"/>
            <a:ext cx="603233" cy="623849"/>
          </a:xfrm>
          <a:prstGeom prst="upDownArrow">
            <a:avLst>
              <a:gd name="adj1" fmla="val 43684"/>
              <a:gd name="adj2" fmla="val 21578"/>
            </a:avLst>
          </a:prstGeom>
          <a:solidFill>
            <a:srgbClr val="B7D9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64C97033-EF82-4848-B2DC-003A078E7EEB}"/>
              </a:ext>
            </a:extLst>
          </p:cNvPr>
          <p:cNvCxnSpPr>
            <a:cxnSpLocks/>
            <a:stCxn id="24" idx="3"/>
            <a:endCxn id="10" idx="3"/>
          </p:cNvCxnSpPr>
          <p:nvPr/>
        </p:nvCxnSpPr>
        <p:spPr>
          <a:xfrm rot="16200000" flipV="1">
            <a:off x="2992278" y="3895841"/>
            <a:ext cx="1376791" cy="2656929"/>
          </a:xfrm>
          <a:prstGeom prst="curvedConnector2">
            <a:avLst/>
          </a:prstGeom>
          <a:ln w="69850">
            <a:solidFill>
              <a:srgbClr val="B7D9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952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02822A-20ED-4BAB-9C3E-182E9340B598}"/>
              </a:ext>
            </a:extLst>
          </p:cNvPr>
          <p:cNvSpPr txBox="1"/>
          <p:nvPr/>
        </p:nvSpPr>
        <p:spPr>
          <a:xfrm>
            <a:off x="233398" y="230805"/>
            <a:ext cx="2432076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2400"/>
            </a:lvl1pPr>
          </a:lstStyle>
          <a:p>
            <a:r>
              <a:rPr lang="en-US" altLang="ko-KR"/>
              <a:t>ctrlboard</a:t>
            </a:r>
            <a:r>
              <a:rPr lang="en-US" altLang="ko-KR" dirty="0"/>
              <a:t> </a:t>
            </a:r>
            <a:r>
              <a:rPr lang="ko-KR" altLang="en-US" dirty="0"/>
              <a:t>구조</a:t>
            </a:r>
          </a:p>
        </p:txBody>
      </p:sp>
    </p:spTree>
    <p:extLst>
      <p:ext uri="{BB962C8B-B14F-4D97-AF65-F5344CB8AC3E}">
        <p14:creationId xmlns:p14="http://schemas.microsoft.com/office/powerpoint/2010/main" val="2342500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de">
      <a:majorFont>
        <a:latin typeface="Consolas"/>
        <a:ea typeface="나눔바른고딕"/>
        <a:cs typeface=""/>
      </a:majorFont>
      <a:minorFont>
        <a:latin typeface="Consolas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175</Words>
  <Application>Microsoft Office PowerPoint</Application>
  <PresentationFormat>와이드스크린</PresentationFormat>
  <Paragraphs>41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성호 이</dc:creator>
  <cp:lastModifiedBy>성호 이</cp:lastModifiedBy>
  <cp:revision>17</cp:revision>
  <dcterms:created xsi:type="dcterms:W3CDTF">2020-08-11T05:45:18Z</dcterms:created>
  <dcterms:modified xsi:type="dcterms:W3CDTF">2020-08-11T06:19:59Z</dcterms:modified>
</cp:coreProperties>
</file>